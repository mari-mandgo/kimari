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614b408b6640db" /><Relationship Type="http://schemas.openxmlformats.org/officeDocument/2006/relationships/extended-properties" Target="/docProps/app.xml" Id="R3c35351719b14ae2" /><Relationship Type="http://schemas.openxmlformats.org/officeDocument/2006/relationships/officeDocument" Target="/ppt/presentation.xml" Id="R749f9c2a358b42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22c18bef5945da"/>
  </p:sldMasterIdLst>
  <p:notesMasterIdLst>
    <p:notesMasterId xmlns:r="http://schemas.openxmlformats.org/officeDocument/2006/relationships" r:id="R59238e40fdcc46dc"/>
  </p:notesMasterIdLst>
  <p:sldIdLst>
    <p:sldId xmlns:r="http://schemas.openxmlformats.org/officeDocument/2006/relationships" id="256" r:id="R1b2ca5097cab48bb"/>
    <p:sldId xmlns:r="http://schemas.openxmlformats.org/officeDocument/2006/relationships" id="257" r:id="R9fcb1b7d1bd549c1"/>
    <p:sldId xmlns:r="http://schemas.openxmlformats.org/officeDocument/2006/relationships" id="258" r:id="R3b64b35fd9304569"/>
    <p:sldId xmlns:r="http://schemas.openxmlformats.org/officeDocument/2006/relationships" id="259" r:id="R7ca98349e65a476f"/>
    <p:sldId xmlns:r="http://schemas.openxmlformats.org/officeDocument/2006/relationships" id="260" r:id="R26433011e5a845a8"/>
    <p:sldId xmlns:r="http://schemas.openxmlformats.org/officeDocument/2006/relationships" id="261" r:id="Ra26c4cc19b3b4c10"/>
    <p:sldId xmlns:r="http://schemas.openxmlformats.org/officeDocument/2006/relationships" id="262" r:id="R4079a75869fb4e9a"/>
    <p:sldId xmlns:r="http://schemas.openxmlformats.org/officeDocument/2006/relationships" id="263" r:id="Rf97d8974a2bd44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2f80e832d440ee" /><Relationship Type="http://schemas.openxmlformats.org/officeDocument/2006/relationships/slideMaster" Target="/ppt/slideMasters/slideMaster1.xml" Id="R4022c18bef5945da" /><Relationship Type="http://schemas.openxmlformats.org/officeDocument/2006/relationships/notesMaster" Target="/ppt/notesMasters/notesMaster1.xml" Id="R59238e40fdcc46dc" /><Relationship Type="http://schemas.openxmlformats.org/officeDocument/2006/relationships/presProps" Target="/ppt/presProps.xml" Id="R5cb996051f2546df" /><Relationship Type="http://schemas.openxmlformats.org/officeDocument/2006/relationships/tableStyles" Target="/ppt/tableStyles.xml" Id="R550c3d6fba484f69" /><Relationship Type="http://schemas.openxmlformats.org/officeDocument/2006/relationships/slide" Target="/ppt/slides/slide1.xml" Id="R1b2ca5097cab48bb" /><Relationship Type="http://schemas.openxmlformats.org/officeDocument/2006/relationships/slide" Target="/ppt/slides/slide2.xml" Id="R9fcb1b7d1bd549c1" /><Relationship Type="http://schemas.openxmlformats.org/officeDocument/2006/relationships/slide" Target="/ppt/slides/slide3.xml" Id="R3b64b35fd9304569" /><Relationship Type="http://schemas.openxmlformats.org/officeDocument/2006/relationships/slide" Target="/ppt/slides/slide4.xml" Id="R7ca98349e65a476f" /><Relationship Type="http://schemas.openxmlformats.org/officeDocument/2006/relationships/slide" Target="/ppt/slides/slide5.xml" Id="R26433011e5a845a8" /><Relationship Type="http://schemas.openxmlformats.org/officeDocument/2006/relationships/slide" Target="/ppt/slides/slide6.xml" Id="Ra26c4cc19b3b4c10" /><Relationship Type="http://schemas.openxmlformats.org/officeDocument/2006/relationships/slide" Target="/ppt/slides/slide7.xml" Id="R4079a75869fb4e9a" /><Relationship Type="http://schemas.openxmlformats.org/officeDocument/2006/relationships/slide" Target="/ppt/slides/slide8.xml" Id="Rf97d8974a2bd44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d27bcc9bab4a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32a65861d0408f" /><Relationship Type="http://schemas.openxmlformats.org/officeDocument/2006/relationships/notesMaster" Target="/ppt/notesMasters/notesMaster1.xml" Id="R15e515f0be3746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e70477c0d3422a" /><Relationship Type="http://schemas.openxmlformats.org/officeDocument/2006/relationships/notesMaster" Target="/ppt/notesMasters/notesMaster1.xml" Id="R06304386b5054c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4383bd61684f5d" /><Relationship Type="http://schemas.openxmlformats.org/officeDocument/2006/relationships/notesMaster" Target="/ppt/notesMasters/notesMaster1.xml" Id="R2094bb7bfbb144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6f4c5cf7af4208" /><Relationship Type="http://schemas.openxmlformats.org/officeDocument/2006/relationships/notesMaster" Target="/ppt/notesMasters/notesMaster1.xml" Id="Rc28030c96e7e44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d94de143924fab" /><Relationship Type="http://schemas.openxmlformats.org/officeDocument/2006/relationships/notesMaster" Target="/ppt/notesMasters/notesMaster1.xml" Id="R1f71faafce704e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a2a72b6ca74985" /><Relationship Type="http://schemas.openxmlformats.org/officeDocument/2006/relationships/notesMaster" Target="/ppt/notesMasters/notesMaster1.xml" Id="R0e0802c6742443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81a4561989466b" /><Relationship Type="http://schemas.openxmlformats.org/officeDocument/2006/relationships/notesMaster" Target="/ppt/notesMasters/notesMaster1.xml" Id="R9d182cbcf6544f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43b28d41554751" /><Relationship Type="http://schemas.openxmlformats.org/officeDocument/2006/relationships/notesMaster" Target="/ppt/notesMasters/notesMaster1.xml" Id="R2e702ac26f1e40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5f77a6a5e74c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2702781b284298" /><Relationship Type="http://schemas.openxmlformats.org/officeDocument/2006/relationships/slideLayout" Target="/ppt/slideLayouts/slideLayout1.xml" Id="R9e0d7441359142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0d7441359142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19db79f7e4953" /><Relationship Type="http://schemas.openxmlformats.org/officeDocument/2006/relationships/image" Target="/ppt/media/image.jpeg" Id="R9253feb4aea742d8" /><Relationship Type="http://schemas.openxmlformats.org/officeDocument/2006/relationships/image" Target="/ppt/media/image.png" Id="R67c20bd735ba4ee4" /><Relationship Type="http://schemas.openxmlformats.org/officeDocument/2006/relationships/notesSlide" Target="/ppt/notesSlides/notesSlide1.xml" Id="R58c95368ae4346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1858570914792" /><Relationship Type="http://schemas.openxmlformats.org/officeDocument/2006/relationships/image" Target="/ppt/media/image2.jpeg" Id="R81efea43897441a6" /><Relationship Type="http://schemas.openxmlformats.org/officeDocument/2006/relationships/notesSlide" Target="/ppt/notesSlides/notesSlide2.xml" Id="R60760aea30104b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74218ad2f41b0" /><Relationship Type="http://schemas.openxmlformats.org/officeDocument/2006/relationships/notesSlide" Target="/ppt/notesSlides/notesSlide3.xml" Id="R99830b50e95341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9ae5978e6463d" /><Relationship Type="http://schemas.openxmlformats.org/officeDocument/2006/relationships/notesSlide" Target="/ppt/notesSlides/notesSlide4.xml" Id="R6a9c4ec6842740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7f05f409e4a8f" /><Relationship Type="http://schemas.openxmlformats.org/officeDocument/2006/relationships/image" Target="/ppt/media/image3.jpeg" Id="R8f147f8373744a4f" /><Relationship Type="http://schemas.openxmlformats.org/officeDocument/2006/relationships/notesSlide" Target="/ppt/notesSlides/notesSlide5.xml" Id="Rb996897e6c8343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53464223b4c47" /><Relationship Type="http://schemas.openxmlformats.org/officeDocument/2006/relationships/notesSlide" Target="/ppt/notesSlides/notesSlide6.xml" Id="R3ccf13732b8742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0461d189d4b07" /><Relationship Type="http://schemas.openxmlformats.org/officeDocument/2006/relationships/notesSlide" Target="/ppt/notesSlides/notesSlide7.xml" Id="Rd765b54373994d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9e486b785436a" /><Relationship Type="http://schemas.openxmlformats.org/officeDocument/2006/relationships/notesSlide" Target="/ppt/notesSlides/notesSlide8.xml" Id="R9f3eccee15304e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3feb4aea742d8"/>
          <a:srcRect xmlns:a="http://schemas.openxmlformats.org/drawingml/2006/main" l="24558" t="0" r="245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oundRect">
            <a:avLst>
              <a:gd name="adj" fmla="val 1935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24EBD-39F2-443C-ADC2-68BA41FF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c20bd735ba4ee4"/>
          <a:stretch xmlns:a="http://schemas.openxmlformats.org/drawingml/2006/main"/>
        </p:blipFill>
        <p:spPr>
          <a:xfrm xmlns:a="http://schemas.openxmlformats.org/drawingml/2006/main">
            <a:off x="666750" y="554567"/>
            <a:ext cx="4000500" cy="948267"/>
          </a:xfrm>
          <a:prstGeom xmlns:a="http://schemas.openxmlformats.org/drawingml/2006/main" prst="roundRect">
            <a:avLst>
              <a:gd name="adj" fmla="val 1200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15562-F330-46A4-8D36-70FE28EA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68D8"/>
                </a:solidFill>
              </a:defRPr>
            </a:pPr>
            <a:r>
              <a:rPr sz="1500" b="1">
                <a:solidFill>
                  <a:srgbClr val="1168D8"/>
                </a:solidFill>
              </a:rPr>
              <a:t>リノベAIエージェント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91287-4779-45C1-9C87-0D19FAA5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581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6265A"/>
                </a:solidFill>
              </a:defRPr>
            </a:pPr>
            <a:r>
              <a:rPr sz="4350" b="1">
                <a:solidFill>
                  <a:srgbClr val="06265A"/>
                </a:solidFill>
              </a:rPr>
              <a:t>話すだけで、</a:t>
            </a:r>
          </a:p>
          <a:p xmlns:a="http://schemas.openxmlformats.org/drawingml/2006/main">
            <a:pPr algn="l">
              <a:defRPr sz="4350" b="1">
                <a:solidFill>
                  <a:srgbClr val="06265A"/>
                </a:solidFill>
              </a:defRPr>
            </a:pPr>
            <a:r>
              <a:rPr sz="4350" b="1">
                <a:solidFill>
                  <a:srgbClr val="06265A"/>
                </a:solidFill>
              </a:rPr>
              <a:t>現場が決まる。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CEEFC-400A-4863-8F0C-37B3DA46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485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68D8"/>
                </a:solidFill>
              </a:defRPr>
            </a:pPr>
            <a:r>
              <a:rPr sz="1725" b="1">
                <a:solidFill>
                  <a:srgbClr val="1168D8"/>
                </a:solidFill>
              </a:rPr>
              <a:t>打ち合わせの会話から、</a:t>
            </a:r>
          </a:p>
          <a:p xmlns:a="http://schemas.openxmlformats.org/drawingml/2006/main">
            <a:pPr algn="l">
              <a:defRPr sz="1725" b="1">
                <a:solidFill>
                  <a:srgbClr val="1168D8"/>
                </a:solidFill>
              </a:defRPr>
            </a:pPr>
            <a:r>
              <a:rPr sz="1725" b="1">
                <a:solidFill>
                  <a:srgbClr val="1168D8"/>
                </a:solidFill>
              </a:rPr>
              <a:t>追加見積が必要な変更だけを見つける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CCB45-DDF0-4E41-8E89-0CF13416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Mari（金子麻里）｜建築設計・施工管理 20年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3E9CE-BA0D-4878-9E01-51C0BE90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4BC"/>
                </a:solidFill>
              </a:defRPr>
            </a:pPr>
            <a:r>
              <a:rPr sz="900" b="1">
                <a:solidFill>
                  <a:srgbClr val="91A4BC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81089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B4562E-0E6F-46EC-BD2F-0A6A050D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8D8"/>
                </a:solidFill>
              </a:defRPr>
            </a:pPr>
            <a:r>
              <a:rPr sz="1125" b="1">
                <a:solidFill>
                  <a:srgbClr val="1168D8"/>
                </a:solidFill>
              </a:rPr>
              <a:t>KIMARI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E57E9-2400-4091-9066-24B0C4BC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265A"/>
                </a:solidFill>
              </a:defRPr>
            </a:pPr>
            <a:r>
              <a:rPr sz="2850" b="1">
                <a:solidFill>
                  <a:srgbClr val="06265A"/>
                </a:solidFill>
              </a:rPr>
              <a:t>同じ「変更」でも、お金が動くのは片方だけ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efea43897441a6"/>
          <a:srcRect xmlns:a="http://schemas.openxmlformats.org/drawingml/2006/main" l="23598" t="0" r="235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04950"/>
            <a:ext cx="4000500" cy="447675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055BF-1AF2-446F-83CD-55CE3140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24000"/>
            <a:ext cx="6667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F28C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BF43A-1228-4E09-96B9-FF9EBA2C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907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265A"/>
                </a:solidFill>
              </a:defRPr>
            </a:pPr>
            <a:r>
              <a:rPr sz="2025" b="1">
                <a:solidFill>
                  <a:srgbClr val="06265A"/>
                </a:solidFill>
              </a:rPr>
              <a:t>「キッチン、60センチ寄せられないかな」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AB3D6-265F-43FC-9843-726BA1B1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479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給排水の移設が発生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5415E-BB1B-4E44-87CC-2FD4E8D5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0375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8C28"/>
                </a:solidFill>
              </a:defRPr>
            </a:pPr>
            <a:r>
              <a:rPr sz="2250" b="1">
                <a:solidFill>
                  <a:srgbClr val="F28C28"/>
                </a:solidFill>
              </a:rPr>
              <a:t>追加見積が必要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9AD1F-D25A-4674-8781-BE1CEC99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76650"/>
            <a:ext cx="6667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2FBF8"/>
          </a:solidFill>
          <a:ln xmlns:a="http://schemas.openxmlformats.org/drawingml/2006/main" w="19050">
            <a:solidFill>
              <a:srgbClr val="168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34A0B-49D3-49AD-AB86-E9FE68C1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433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265A"/>
                </a:solidFill>
              </a:defRPr>
            </a:pPr>
            <a:r>
              <a:rPr sz="2025" b="1">
                <a:solidFill>
                  <a:srgbClr val="06265A"/>
                </a:solidFill>
              </a:rPr>
              <a:t>「建具の色、オークにしたい」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61332F-E916-404D-8FDD-49B7B03B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005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同一グレード内の色変更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D61EE-6F99-49D5-9763-9FB50FE7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53025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8563"/>
                </a:solidFill>
              </a:defRPr>
            </a:pPr>
            <a:r>
              <a:rPr sz="2250" b="1">
                <a:solidFill>
                  <a:srgbClr val="168563"/>
                </a:solidFill>
              </a:rPr>
              <a:t>金額の変更なし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76510-6DB7-4153-A868-DFEFA522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4BC"/>
                </a:solidFill>
              </a:defRPr>
            </a:pPr>
            <a:r>
              <a:rPr sz="900" b="1">
                <a:solidFill>
                  <a:srgbClr val="91A4B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843149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26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606DC-F773-4846-A2B4-62BB3334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この線引きが、KIMARIの本体です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36549-5A85-43B4-A339-4F59D930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907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8BDD7"/>
                </a:solidFill>
              </a:defRPr>
            </a:pPr>
            <a:r>
              <a:rPr sz="1800" b="1">
                <a:solidFill>
                  <a:srgbClr val="A8BDD7"/>
                </a:solidFill>
              </a:rPr>
              <a:t>汎用の議事録AI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8E8D4-0C5F-4C9B-BADC-1769BAD4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24125"/>
            <a:ext cx="342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変更事項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D2D52-FE1F-406D-8045-0DAA40F9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57475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43C8E8"/>
                </a:solidFill>
              </a:defRPr>
            </a:pPr>
            <a:r>
              <a:rPr sz="3150" b="1">
                <a:solidFill>
                  <a:srgbClr val="43C8E8"/>
                </a:solidFill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43683-289A-4DEF-AFA4-50B6189D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3C8E8"/>
                </a:solidFill>
              </a:defRPr>
            </a:pPr>
            <a:r>
              <a:rPr sz="1800" b="1">
                <a:solidFill>
                  <a:srgbClr val="43C8E8"/>
                </a:solidFill>
              </a:rPr>
              <a:t>KIMARI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25CDD-1A80-46B3-B03C-D797CA88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193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28C28"/>
                </a:solidFill>
              </a:defRPr>
            </a:pPr>
            <a:r>
              <a:rPr sz="2325" b="1">
                <a:solidFill>
                  <a:srgbClr val="F28C28"/>
                </a:solidFill>
              </a:rPr>
              <a:t>追加見積が必要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7F75A-71C4-4E77-8495-DA724656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75D1B2"/>
                </a:solidFill>
              </a:defRPr>
            </a:pPr>
            <a:r>
              <a:rPr sz="2325" b="1">
                <a:solidFill>
                  <a:srgbClr val="75D1B2"/>
                </a:solidFill>
              </a:rPr>
              <a:t>金額の変更なし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7BDD4-3E4C-4561-A745-B920B35A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変更工事は、書面で見積・合意する。</a:t>
            </a:r>
          </a:p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だから会話の段階で見分ける。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03707-E1FE-4E50-A642-C58A7EE9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4BC"/>
                </a:solidFill>
              </a:defRPr>
            </a:pPr>
            <a:r>
              <a:rPr sz="900" b="1">
                <a:solidFill>
                  <a:srgbClr val="91A4B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814180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26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EC1C6-372D-462C-9369-30007FA9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録音するだけで、ここまで自動。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4E8AA-95DA-437C-B077-E8A4E92D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3048000" cy="314325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82F63"/>
          </a:solidFill>
          <a:ln xmlns:a="http://schemas.openxmlformats.org/drawingml/2006/main" w="19050">
            <a:solidFill>
              <a:srgbClr val="43C8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37028-356D-4B4F-BC01-B06F39A8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095500"/>
            <a:ext cx="104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43C8E8"/>
                </a:solidFill>
              </a:defRPr>
            </a:pPr>
            <a:r>
              <a:rPr sz="4350" b="1">
                <a:solidFill>
                  <a:srgbClr val="43C8E8"/>
                </a:solidFill>
              </a:rPr>
              <a:t>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B5824-5213-40C6-B38B-BE32610C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43C8E8"/>
                </a:solidFill>
              </a:defRPr>
            </a:pPr>
            <a:r>
              <a:rPr sz="2475" b="1">
                <a:solidFill>
                  <a:srgbClr val="43C8E8"/>
                </a:solidFill>
              </a:rPr>
              <a:t>仕分け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3AFC9-BDAA-495D-8A4B-636D3303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243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決定・追加見積・ズレ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52EF7-923C-4928-ABBB-D14A70CF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52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43C8E8"/>
                </a:solidFill>
              </a:defRPr>
            </a:pPr>
            <a:r>
              <a:rPr sz="2700" b="1">
                <a:solidFill>
                  <a:srgbClr val="43C8E8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4A279-2699-4E96-9E59-9A19AA56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52600"/>
            <a:ext cx="3048000" cy="314325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82F63"/>
          </a:solidFill>
          <a:ln xmlns:a="http://schemas.openxmlformats.org/drawingml/2006/main" w="19050">
            <a:solidFill>
              <a:srgbClr val="43C8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62C44-79C9-491E-B831-1164EEA7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95500"/>
            <a:ext cx="104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43C8E8"/>
                </a:solidFill>
              </a:defRPr>
            </a:pPr>
            <a:r>
              <a:rPr sz="4350" b="1">
                <a:solidFill>
                  <a:srgbClr val="43C8E8"/>
                </a:solidFill>
              </a:rPr>
              <a:t>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DFD25-448D-4C5B-ADA3-ADDD199F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8612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43C8E8"/>
                </a:solidFill>
              </a:defRPr>
            </a:pPr>
            <a:r>
              <a:rPr sz="2475" b="1">
                <a:solidFill>
                  <a:srgbClr val="43C8E8"/>
                </a:solidFill>
              </a:rPr>
              <a:t>議事録3種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3AC783-F65E-4DFF-A80A-6A79837F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81450"/>
            <a:ext cx="243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施主・職人・社内向け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278F5-3519-4516-9CDE-73129FB7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52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43C8E8"/>
                </a:solidFill>
              </a:defRPr>
            </a:pPr>
            <a:r>
              <a:rPr sz="2700" b="1">
                <a:solidFill>
                  <a:srgbClr val="43C8E8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62234-8B93-429D-AD07-FC11148C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600"/>
            <a:ext cx="3048000" cy="314325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82F63"/>
          </a:solidFill>
          <a:ln xmlns:a="http://schemas.openxmlformats.org/drawingml/2006/main" w="19050">
            <a:solidFill>
              <a:srgbClr val="43C8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919051-A773-4C98-B2B6-31FC11E5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95500"/>
            <a:ext cx="104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43C8E8"/>
                </a:solidFill>
              </a:defRPr>
            </a:pPr>
            <a:r>
              <a:rPr sz="4350" b="1">
                <a:solidFill>
                  <a:srgbClr val="43C8E8"/>
                </a:solidFill>
              </a:rPr>
              <a:t>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AE8A1-24F7-4E27-8B6F-4163780F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8612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43C8E8"/>
                </a:solidFill>
              </a:defRPr>
            </a:pPr>
            <a:r>
              <a:rPr sz="2475" b="1">
                <a:solidFill>
                  <a:srgbClr val="43C8E8"/>
                </a:solidFill>
              </a:rPr>
              <a:t>追加見積書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F9E217-12BD-4EDD-96D7-42F4904A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81450"/>
            <a:ext cx="243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増減表まで、そのまま発行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EAD735-1026-4222-8637-1C069A4F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6737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8分の打ち合わせ → 追加見積3件・決定・保留・認識のズレまで整理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364456-0663-484F-A22D-66B8C214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4BC"/>
                </a:solidFill>
              </a:defRPr>
            </a:pPr>
            <a:r>
              <a:rPr sz="900" b="1">
                <a:solidFill>
                  <a:srgbClr val="91A4B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021930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C6BEE7-ECDE-4BA3-BE43-2E0C025B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8D8"/>
                </a:solidFill>
              </a:defRPr>
            </a:pPr>
            <a:r>
              <a:rPr sz="1125" b="1">
                <a:solidFill>
                  <a:srgbClr val="1168D8"/>
                </a:solidFill>
              </a:rPr>
              <a:t>KIMARI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9339A-C807-46E0-9C6A-F03FC079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265A"/>
                </a:solidFill>
              </a:defRPr>
            </a:pPr>
            <a:r>
              <a:rPr sz="2850" b="1">
                <a:solidFill>
                  <a:srgbClr val="06265A"/>
                </a:solidFill>
              </a:rPr>
              <a:t>同じ発言でも、工程と契約で答えが変わる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47f8373744a4f"/>
          <a:srcRect xmlns:a="http://schemas.openxmlformats.org/drawingml/2006/main" l="21142" t="0" r="211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4000500" cy="409575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656CB-DD2F-46F1-A683-8872FC5D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638300"/>
            <a:ext cx="2190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0" b="1">
                <a:solidFill>
                  <a:srgbClr val="06265A"/>
                </a:solidFill>
              </a:defRPr>
            </a:pPr>
            <a:r>
              <a:rPr sz="6900" b="1">
                <a:solidFill>
                  <a:srgbClr val="06265A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B37D4-6109-4538-B2DC-AECFE6F4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24125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265A"/>
                </a:solidFill>
              </a:defRPr>
            </a:pPr>
            <a:r>
              <a:rPr sz="2025" b="1">
                <a:solidFill>
                  <a:srgbClr val="06265A"/>
                </a:solidFill>
              </a:rPr>
              <a:t>項目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ADAEB-F6EF-46C2-B164-CA290E2D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764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75" b="1">
                <a:solidFill>
                  <a:srgbClr val="1168D8"/>
                </a:solidFill>
              </a:defRPr>
            </a:pPr>
            <a:r>
              <a:rPr sz="3975" b="1">
                <a:solidFill>
                  <a:srgbClr val="1168D8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DDFBD-1F5D-400E-9EC9-D2F5C856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38300"/>
            <a:ext cx="1714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0" b="1">
                <a:solidFill>
                  <a:srgbClr val="F28C28"/>
                </a:solidFill>
              </a:defRPr>
            </a:pPr>
            <a:r>
              <a:rPr sz="6900" b="1">
                <a:solidFill>
                  <a:srgbClr val="F28C28"/>
                </a:solidFill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58B4E-786B-4B79-A780-291BD777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24125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8C28"/>
                </a:solidFill>
              </a:defRPr>
            </a:pPr>
            <a:r>
              <a:rPr sz="2025" b="1">
                <a:solidFill>
                  <a:srgbClr val="F28C28"/>
                </a:solidFill>
              </a:rPr>
              <a:t>項目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6F2E0-1310-4893-B1AF-DECBA42D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90900"/>
            <a:ext cx="61912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DF5FF"/>
          </a:solidFill>
          <a:ln xmlns:a="http://schemas.openxmlformats.org/drawingml/2006/main" w="19050">
            <a:solidFill>
              <a:srgbClr val="C8DD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A01D7-D393-4570-AA6E-6208D637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契約前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B6E46-3F06-40FC-B928-75A58844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195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解体後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47071-7876-4857-AB4A-91640F46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100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6265A"/>
                </a:solidFill>
              </a:defRPr>
            </a:pPr>
            <a:r>
              <a:rPr sz="2025" b="1">
                <a:solidFill>
                  <a:srgbClr val="06265A"/>
                </a:solidFill>
              </a:rPr>
              <a:t>当初見積書の契約64項目と照合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965D75-3E0C-4042-84AD-00B8A93C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863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68D8"/>
                </a:solidFill>
              </a:defRPr>
            </a:pPr>
            <a:r>
              <a:rPr sz="1500" b="1">
                <a:solidFill>
                  <a:srgbClr val="1168D8"/>
                </a:solidFill>
              </a:rPr>
              <a:t>推測ではなく、その現場の契約書で判定する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CB017E-F8BD-44F0-95B3-6D40C150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4BC"/>
                </a:solidFill>
              </a:defRPr>
            </a:pPr>
            <a:r>
              <a:rPr sz="900" b="1">
                <a:solidFill>
                  <a:srgbClr val="91A4B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818910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EAB08-3386-407F-A424-4B3B289B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8D8"/>
                </a:solidFill>
              </a:defRPr>
            </a:pPr>
            <a:r>
              <a:rPr sz="1125" b="1">
                <a:solidFill>
                  <a:srgbClr val="1168D8"/>
                </a:solidFill>
              </a:rPr>
              <a:t>KIMARI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DFEF0-29DF-4DF3-85A7-5B9EE6AB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265A"/>
                </a:solidFill>
              </a:defRPr>
            </a:pPr>
            <a:r>
              <a:rPr sz="2850" b="1">
                <a:solidFill>
                  <a:srgbClr val="06265A"/>
                </a:solidFill>
              </a:rPr>
              <a:t>音声を外に出さない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BD7F6-6928-43A5-9945-F9F6F8A7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6265A"/>
                </a:solidFill>
              </a:defRPr>
            </a:pPr>
            <a:r>
              <a:rPr sz="3000" b="1">
                <a:solidFill>
                  <a:srgbClr val="06265A"/>
                </a:solidFill>
              </a:rPr>
              <a:t>録音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9EB91-0A2E-4046-977E-121F3F1B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907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168D8"/>
                </a:solidFill>
              </a:defRPr>
            </a:pPr>
            <a:r>
              <a:rPr sz="2775" b="1">
                <a:solidFill>
                  <a:srgbClr val="1168D8"/>
                </a:solidFill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194DB-E680-4E37-A5C7-3FAF0BB1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19250"/>
            <a:ext cx="3524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DF5FF"/>
          </a:solidFill>
          <a:ln xmlns:a="http://schemas.openxmlformats.org/drawingml/2006/main" w="19050">
            <a:solidFill>
              <a:srgbClr val="BBD6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766ED-0E0F-427F-857C-34208F3E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12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6265A"/>
                </a:solidFill>
              </a:defRPr>
            </a:pPr>
            <a:r>
              <a:rPr sz="2325" b="1">
                <a:solidFill>
                  <a:srgbClr val="06265A"/>
                </a:solidFill>
              </a:rPr>
              <a:t>自社サーバー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D51C1-C265-4BD0-AC44-C6E293B8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19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68D8"/>
                </a:solidFill>
              </a:defRPr>
            </a:pPr>
            <a:r>
              <a:rPr sz="1950" b="1">
                <a:solidFill>
                  <a:srgbClr val="1168D8"/>
                </a:solidFill>
              </a:rPr>
              <a:t>文字起こし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B4915-D790-42EE-8609-6D9D11DC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168D8"/>
                </a:solidFill>
              </a:defRPr>
            </a:pPr>
            <a:r>
              <a:rPr sz="2775" b="1">
                <a:solidFill>
                  <a:srgbClr val="1168D8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69512-4E8D-430A-96D0-8C849049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19250"/>
            <a:ext cx="30956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9050">
            <a:solidFill>
              <a:srgbClr val="BBD6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A0FF8-7D5B-48D4-BF1D-0C6D15F1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28825"/>
            <a:ext cx="252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6265A"/>
                </a:solidFill>
              </a:defRPr>
            </a:pPr>
            <a:r>
              <a:rPr sz="2025" b="1">
                <a:solidFill>
                  <a:srgbClr val="06265A"/>
                </a:solidFill>
              </a:rPr>
              <a:t>個人情報を伏せた</a:t>
            </a:r>
          </a:p>
          <a:p xmlns:a="http://schemas.openxmlformats.org/drawingml/2006/main">
            <a:pPr algn="ctr">
              <a:defRPr sz="2025" b="1">
                <a:solidFill>
                  <a:srgbClr val="06265A"/>
                </a:solidFill>
              </a:defRPr>
            </a:pPr>
            <a:r>
              <a:rPr sz="2025" b="1">
                <a:solidFill>
                  <a:srgbClr val="06265A"/>
                </a:solidFill>
              </a:rPr>
              <a:t>テキストだけ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711C77-A41D-4335-B242-96AEC8D7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815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6265A"/>
                </a:solidFill>
              </a:defRPr>
            </a:pPr>
            <a:r>
              <a:rPr sz="2025" b="1">
                <a:solidFill>
                  <a:srgbClr val="06265A"/>
                </a:solidFill>
              </a:rPr>
              <a:t>氏名・住所・電話番号を含む音声は、外部サービスへ送らない。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8C1F85-44A2-4C8D-8978-276E4E50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1970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8C28"/>
                </a:solidFill>
              </a:defRPr>
            </a:pPr>
            <a:r>
              <a:rPr sz="1800" b="1">
                <a:solidFill>
                  <a:srgbClr val="F28C28"/>
                </a:solidFill>
              </a:rPr>
              <a:t>説明できない便利機能は、機能ごと削除しました。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F163BC-4A2F-43D6-A940-E388D5DF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4BC"/>
                </a:solidFill>
              </a:defRPr>
            </a:pPr>
            <a:r>
              <a:rPr sz="900" b="1">
                <a:solidFill>
                  <a:srgbClr val="91A4B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128520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D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70086-7A66-4792-95C8-42A011E5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8D8"/>
                </a:solidFill>
              </a:defRPr>
            </a:pPr>
            <a:r>
              <a:rPr sz="1125" b="1">
                <a:solidFill>
                  <a:srgbClr val="1168D8"/>
                </a:solidFill>
              </a:rPr>
              <a:t>KIMARI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967DE-2CB5-4D01-ACEF-8D65ED5A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265A"/>
                </a:solidFill>
              </a:defRPr>
            </a:pPr>
            <a:r>
              <a:rPr sz="2850" b="1">
                <a:solidFill>
                  <a:srgbClr val="06265A"/>
                </a:solidFill>
              </a:rPr>
              <a:t>本番で回せる原価にする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B00AF-7CF1-4817-9017-43C9B063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4572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225" b="1">
                <a:solidFill>
                  <a:srgbClr val="F28C28"/>
                </a:solidFill>
              </a:defRPr>
            </a:pPr>
            <a:r>
              <a:rPr sz="6225" b="1">
                <a:solidFill>
                  <a:srgbClr val="F28C28"/>
                </a:solidFill>
              </a:rPr>
              <a:t>0.42円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76A9A-9AAB-4658-A7E6-CB91E316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6265A"/>
                </a:solidFill>
              </a:defRPr>
            </a:pPr>
            <a:r>
              <a:rPr sz="1875" b="1">
                <a:solidFill>
                  <a:srgbClr val="06265A"/>
                </a:solidFill>
              </a:rPr>
              <a:t>打ち合わせ1件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3BF9D-811A-4940-945A-32AFE738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4572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175" b="1">
                <a:solidFill>
                  <a:srgbClr val="1168D8"/>
                </a:solidFill>
              </a:defRPr>
            </a:pPr>
            <a:r>
              <a:rPr sz="5175" b="1">
                <a:solidFill>
                  <a:srgbClr val="1168D8"/>
                </a:solidFill>
              </a:rPr>
              <a:t>約270分の1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5DA9C-7D84-419D-A230-570D9588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265A"/>
                </a:solidFill>
              </a:defRPr>
            </a:pPr>
            <a:r>
              <a:rPr sz="1650" b="1">
                <a:solidFill>
                  <a:srgbClr val="06265A"/>
                </a:solidFill>
              </a:rPr>
              <a:t>最上位モデル直指定との比較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13C52-367A-41F4-B1F7-0BAB97AA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5287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35.2円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CFA1E-84A0-4130-A5FF-D0C2E5A8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392E9-A6EF-4553-9A6F-C3096516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5287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68D8"/>
                </a:solidFill>
              </a:defRPr>
            </a:pPr>
            <a:r>
              <a:rPr sz="2100" b="1">
                <a:solidFill>
                  <a:srgbClr val="1168D8"/>
                </a:solidFill>
              </a:rPr>
              <a:t>0.13円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1E1AD-958A-49B2-8A6E-F88456F2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6265A"/>
                </a:solidFill>
              </a:defRPr>
            </a:pPr>
            <a:r>
              <a:rPr sz="1950" b="1">
                <a:solidFill>
                  <a:srgbClr val="06265A"/>
                </a:solidFill>
              </a:rPr>
              <a:t>仕分けは安いモデル、判断が要るところだけ高いモデルへ。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04E80-E4EA-4CCC-A4F8-48E6B806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4BC"/>
                </a:solidFill>
              </a:defRPr>
            </a:pPr>
            <a:r>
              <a:rPr sz="900" b="1">
                <a:solidFill>
                  <a:srgbClr val="91A4B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160340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61B5F2-B1B0-48E8-90CF-2F2C64D6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8D8"/>
                </a:solidFill>
              </a:defRPr>
            </a:pPr>
            <a:r>
              <a:rPr sz="1125" b="1">
                <a:solidFill>
                  <a:srgbClr val="1168D8"/>
                </a:solidFill>
              </a:rPr>
              <a:t>KIMARI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885CB-9888-4517-8F5F-79646394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265A"/>
                </a:solidFill>
              </a:defRPr>
            </a:pPr>
            <a:r>
              <a:rPr sz="2850" b="1">
                <a:solidFill>
                  <a:srgbClr val="06265A"/>
                </a:solidFill>
              </a:rPr>
              <a:t>使われるために、払う人を一人にした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63CA3-A154-4333-A418-840314A2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476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62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C96F9-E932-4968-A674-DEAFB0B6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記録を作る会社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391F8-373C-4678-8441-DA3DE0B9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860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3C8E8"/>
                </a:solidFill>
              </a:defRPr>
            </a:pPr>
            <a:r>
              <a:rPr sz="3600" b="1">
                <a:solidFill>
                  <a:srgbClr val="43C8E8"/>
                </a:solidFill>
              </a:rPr>
              <a:t>有料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566B9-FF77-45D7-AF0A-8A47349A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71625"/>
            <a:ext cx="2667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DF5FF"/>
          </a:solidFill>
          <a:ln xmlns:a="http://schemas.openxmlformats.org/drawingml/2006/main" w="19050">
            <a:solidFill>
              <a:srgbClr val="BBD6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CF556-9357-4A9B-ADD6-505CBF0F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6265A"/>
                </a:solidFill>
              </a:defRPr>
            </a:pPr>
            <a:r>
              <a:rPr sz="2175" b="1">
                <a:solidFill>
                  <a:srgbClr val="06265A"/>
                </a:solidFill>
              </a:rPr>
              <a:t>職人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10210-0E83-4999-8A95-C3FB7B03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168D8"/>
                </a:solidFill>
              </a:defRPr>
            </a:pPr>
            <a:r>
              <a:rPr sz="3150" b="1">
                <a:solidFill>
                  <a:srgbClr val="1168D8"/>
                </a:solidFill>
              </a:rPr>
              <a:t>無料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062AE-9704-44C4-99EF-2BFA8B78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71625"/>
            <a:ext cx="2667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BF9"/>
          </a:solidFill>
          <a:ln xmlns:a="http://schemas.openxmlformats.org/drawingml/2006/main" w="19050">
            <a:solidFill>
              <a:srgbClr val="B7E4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E5AF44-4F56-4BFE-8C05-829AC17B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6265A"/>
                </a:solidFill>
              </a:defRPr>
            </a:pPr>
            <a:r>
              <a:rPr sz="2175" b="1">
                <a:solidFill>
                  <a:srgbClr val="06265A"/>
                </a:solidFill>
              </a:rPr>
              <a:t>施主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B32E2-BDAC-48CD-A734-2488FD6C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765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68563"/>
                </a:solidFill>
              </a:defRPr>
            </a:pPr>
            <a:r>
              <a:rPr sz="3150" b="1">
                <a:solidFill>
                  <a:srgbClr val="168563"/>
                </a:solidFill>
              </a:rPr>
              <a:t>無料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7B062-37E7-4A8D-BE08-F2F3391A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6265A"/>
                </a:solidFill>
              </a:defRPr>
            </a:pPr>
            <a:r>
              <a:rPr sz="2100" b="1">
                <a:solidFill>
                  <a:srgbClr val="06265A"/>
                </a:solidFill>
              </a:rPr>
              <a:t>本物の現場では、まだ運用していません。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2DDC55-E6BF-4834-93A0-7B1E9C0D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68D8"/>
                </a:solidFill>
              </a:defRPr>
            </a:pPr>
            <a:r>
              <a:rPr sz="1800" b="1">
                <a:solidFill>
                  <a:srgbClr val="1168D8"/>
                </a:solidFill>
              </a:rPr>
              <a:t>実際の録音と実際の見積書で、ここまで検証しました。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E0B29-3E5B-4597-801E-95F4BACB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7217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265A"/>
                </a:solidFill>
              </a:defRPr>
            </a:pPr>
            <a:r>
              <a:rPr sz="2250" b="1">
                <a:solidFill>
                  <a:srgbClr val="06265A"/>
                </a:solidFill>
              </a:rPr>
              <a:t>話すだけで、現場が決まる。KIMARI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08B955-EDE1-488B-AF1C-F0C8F747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4BC"/>
                </a:solidFill>
              </a:defRPr>
            </a:pPr>
            <a:r>
              <a:rPr sz="900" b="1">
                <a:solidFill>
                  <a:srgbClr val="91A4BC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831848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2026-08-15T04:40:15.2560000Z</dcterms:created>
  <dcterms:modified xsi:type="dcterms:W3CDTF">2026-08-15T04:40:15.2560000Z</dcterms:modified>
</coreProperties>
</file>